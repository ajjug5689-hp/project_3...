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B1CC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"/>
              </a:defRPr>
            </a:pPr>
            <a:r>
              <a:t>Retail Analytics</a:t>
            </a:r>
            <a:br/>
            <a:r>
              <a:t>Through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1D0DF"/>
                </a:solidFill>
                <a:latin typeface="Aptos"/>
              </a:defRPr>
            </a:pPr>
            <a:r>
              <a:t>A complete EDA journey across customer, product,</a:t>
            </a:r>
            <a:br/>
            <a:r>
              <a:t>pricing, fulfillment and return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166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B4C8"/>
                </a:solidFill>
                <a:latin typeface="Aptos"/>
              </a:defRPr>
            </a:pPr>
            <a:r>
              <a:t>Pandas  •  NumPy  •  Matplotlib  •  Seaborn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1A2B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B5C6D8"/>
                </a:solidFill>
                <a:latin typeface="Aptos"/>
              </a:defRPr>
            </a:pPr>
            <a:r>
              <a:t>The project applies a complete EDA workflow to 100,000 retail transactions.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60320" cy="1508760"/>
          </a:xfrm>
          <a:prstGeom prst="roundRect">
            <a:avLst/>
          </a:prstGeom>
          <a:solidFill>
            <a:srgbClr val="16263C"/>
          </a:solidFill>
          <a:ln>
            <a:solidFill>
              <a:srgbClr val="2E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A0B2C6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77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6C8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560320" cy="1508760"/>
          </a:xfrm>
          <a:prstGeom prst="roundRect">
            <a:avLst/>
          </a:prstGeom>
          <a:solidFill>
            <a:srgbClr val="16263C"/>
          </a:solidFill>
          <a:ln>
            <a:solidFill>
              <a:srgbClr val="2E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73152" cy="1508760"/>
          </a:xfrm>
          <a:prstGeom prst="rect">
            <a:avLst/>
          </a:prstGeom>
          <a:solidFill>
            <a:srgbClr val="20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A0B2C6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6C8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17320"/>
            <a:ext cx="2560320" cy="1508760"/>
          </a:xfrm>
          <a:prstGeom prst="roundRect">
            <a:avLst/>
          </a:prstGeom>
          <a:solidFill>
            <a:srgbClr val="16263C"/>
          </a:solidFill>
          <a:ln>
            <a:solidFill>
              <a:srgbClr val="2E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17320"/>
            <a:ext cx="73152" cy="1508760"/>
          </a:xfrm>
          <a:prstGeom prst="rect">
            <a:avLst/>
          </a:prstGeom>
          <a:solidFill>
            <a:srgbClr val="D2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A0B2C6"/>
                </a:solidFill>
                <a:latin typeface="Aptos"/>
              </a:defRPr>
            </a:pPr>
            <a:r>
              <a:t>RETURN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14.8%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77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6C8"/>
                </a:solidFill>
                <a:latin typeface="Aptos"/>
              </a:defRPr>
            </a:pPr>
            <a:r>
              <a:t>14,811 returns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417320"/>
            <a:ext cx="2560320" cy="1508760"/>
          </a:xfrm>
          <a:prstGeom prst="roundRect">
            <a:avLst/>
          </a:prstGeom>
          <a:solidFill>
            <a:srgbClr val="16263C"/>
          </a:solidFill>
          <a:ln>
            <a:solidFill>
              <a:srgbClr val="2E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1417320"/>
            <a:ext cx="73152" cy="150876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A0B2C6"/>
                </a:solidFill>
                <a:latin typeface="Aptos"/>
              </a:defRPr>
            </a:pPr>
            <a:r>
              <a:t>AVG. FINAL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1874519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₹64,165.72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2377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B6C8"/>
                </a:solidFill>
                <a:latin typeface="Aptos"/>
              </a:defRPr>
            </a:pPr>
            <a:r>
              <a:t>median ₹49,752.39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42900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DE7F0"/>
                </a:solidFill>
                <a:latin typeface="Aptos"/>
              </a:defRPr>
            </a:pPr>
            <a:r>
              <a:t>• Zero missing values across all 18 columns.</a:t>
            </a:r>
          </a:p>
          <a:p>
            <a:pPr>
              <a:spcAft>
                <a:spcPts val="700"/>
              </a:spcAft>
              <a:defRPr sz="1500">
                <a:solidFill>
                  <a:srgbClr val="DDE7F0"/>
                </a:solidFill>
                <a:latin typeface="Aptos"/>
              </a:defRPr>
            </a:pPr>
            <a:r>
              <a:t>• Zero exact duplicate rows; customer IDs are unique.</a:t>
            </a:r>
          </a:p>
          <a:p>
            <a:pPr>
              <a:spcAft>
                <a:spcPts val="700"/>
              </a:spcAft>
              <a:defRPr sz="1500">
                <a:solidFill>
                  <a:srgbClr val="DDE7F0"/>
                </a:solidFill>
                <a:latin typeface="Aptos"/>
              </a:defRPr>
            </a:pPr>
            <a:r>
              <a:t>• Final price is right-skewed and contains a small high-value tail.</a:t>
            </a:r>
          </a:p>
          <a:p>
            <a:pPr>
              <a:spcAft>
                <a:spcPts val="700"/>
              </a:spcAft>
              <a:defRPr sz="1500">
                <a:solidFill>
                  <a:srgbClr val="DDE7F0"/>
                </a:solidFill>
                <a:latin typeface="Aptos"/>
              </a:defRPr>
            </a:pPr>
            <a:r>
              <a:t>• EDA covers univariate, bivariate, multivariate, correlation, outliers, skewness and kurtosis.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1A2B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1 | Dataset Structure &amp;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confirms a complete 18-column retail transaction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4688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1280160"/>
          </a:xfrm>
          <a:prstGeom prst="rect">
            <a:avLst/>
          </a:prstGeom>
          <a:solidFill>
            <a:srgbClr val="20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36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RangeIndex 0–99,999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4688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73152" cy="1280160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36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13.7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31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DataFrame footprint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371600"/>
            <a:ext cx="24688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371600"/>
            <a:ext cx="73152" cy="128016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536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NUMERIC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331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5 int + 1 float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371600"/>
            <a:ext cx="24688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371600"/>
            <a:ext cx="73152" cy="128016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536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8288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331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Customer/product/etc.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154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Customer: customer_id, age, gender, city, state, customer_segment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Order: order_id, order_date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Product: category, subcategory, product_price, quantity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Commercial: discount_percentage, final_price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Fulfillment: payment_method, shipping_type, delivery_days, return_status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BA5"/>
                </a:solidFill>
                <a:latin typeface="Aptos"/>
              </a:defRPr>
            </a:pPr>
            <a:r>
              <a:t>NUMERIC DATA TYPES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20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int64: age, product_price, quantity, discount_percentage, delivery_days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float64: final_price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BA5"/>
                </a:solidFill>
                <a:latin typeface="Aptos"/>
              </a:defRPr>
            </a:pPr>
            <a:r>
              <a:t>SOURCE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40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334"/>
                </a:solidFill>
                <a:latin typeface="Aptos"/>
              </a:defRPr>
            </a:pPr>
            <a:r>
              <a:t>All 18 fields report 100,000 non-null observations.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2 | Data Quality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performs structural checks before statistical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603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17320"/>
            <a:ext cx="25603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73152" cy="132588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EXACT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19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603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73152" cy="132588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DUPLICATE CUSTOMER 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417320"/>
            <a:ext cx="25603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417320"/>
            <a:ext cx="73152" cy="1325880"/>
          </a:xfrm>
          <a:prstGeom prst="rect">
            <a:avLst/>
          </a:prstGeom>
          <a:solidFill>
            <a:srgbClr val="20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1581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ROWS RETAINED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1874519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df.info() confirms 100,000 non-null records for every column.</a:t>
            </a:r>
          </a:p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df.isnull().sum() returns zero for every feature.</a:t>
            </a:r>
          </a:p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Duplicate-row check returns no exact duplicates.</a:t>
            </a:r>
          </a:p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Customer-ID uniqueness check returns no duplicates.</a:t>
            </a:r>
          </a:p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Descriptive statistics are then computed for core numerical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3 | Full Numerical Statistical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reports count, mean, median, standard deviation, min, max, skewness and kurtosis.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82880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41732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417320"/>
            <a:ext cx="114300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Median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417320"/>
            <a:ext cx="114300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1732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Std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417320"/>
            <a:ext cx="114300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417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417320"/>
            <a:ext cx="91440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4173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417320"/>
            <a:ext cx="100584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4173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Skew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417320"/>
            <a:ext cx="82296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4173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Kurtosis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417320"/>
            <a:ext cx="100584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490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149047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149047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t>Median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49047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t>Std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4904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t>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49047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t>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149047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t>Skew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149047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t>Kurtosis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1847088"/>
            <a:ext cx="18288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029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82334"/>
                </a:solidFill>
                <a:latin typeface="Aptos"/>
              </a:defRPr>
            </a:pPr>
            <a:r>
              <a:t>Product price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1847088"/>
            <a:ext cx="11430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20299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30,164.53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1847088"/>
            <a:ext cx="11430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20299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30,148.00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1847088"/>
            <a:ext cx="11430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20299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17,139.68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1847088"/>
            <a:ext cx="9144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2029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1847088"/>
            <a:ext cx="100584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2029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59,998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1847088"/>
            <a:ext cx="82296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20299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0.00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1847088"/>
            <a:ext cx="100584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2029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−1.20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560320"/>
            <a:ext cx="182880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82334"/>
                </a:solidFill>
                <a:latin typeface="Aptos"/>
              </a:defRPr>
            </a:pPr>
            <a:r>
              <a:t>Discount 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31720" y="2560320"/>
            <a:ext cx="114300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1720" y="27432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15.01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2560320"/>
            <a:ext cx="114300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27432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15.00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2560320"/>
            <a:ext cx="114300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27432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8.95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2560320"/>
            <a:ext cx="91440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2560320"/>
            <a:ext cx="100584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2743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0" y="2560320"/>
            <a:ext cx="82296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2743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−0.00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03920" y="2560320"/>
            <a:ext cx="100584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2743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−1.20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3273552"/>
            <a:ext cx="18288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82334"/>
                </a:solidFill>
                <a:latin typeface="Aptos"/>
              </a:defRPr>
            </a:pPr>
            <a:r>
              <a:t>Final price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31720" y="3273552"/>
            <a:ext cx="11430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31720" y="345643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64,165.72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0" y="3273552"/>
            <a:ext cx="11430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0" y="345643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49,752.39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3273552"/>
            <a:ext cx="11430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17720" y="345643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49,969.28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720" y="3273552"/>
            <a:ext cx="91440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0720" y="3456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357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75120" y="3273552"/>
            <a:ext cx="100584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3456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239,980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0" y="3273552"/>
            <a:ext cx="82296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0960" y="34564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0.93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3920" y="3273552"/>
            <a:ext cx="100584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03920" y="3456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0.17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3986783"/>
            <a:ext cx="182880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41696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82334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31720" y="3986783"/>
            <a:ext cx="114300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31720" y="4169663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2.50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74720" y="3986783"/>
            <a:ext cx="114300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74720" y="4169663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3.00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17720" y="3986783"/>
            <a:ext cx="114300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17720" y="4169663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1.12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760720" y="3986783"/>
            <a:ext cx="91440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60720" y="416966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75120" y="3986783"/>
            <a:ext cx="100584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75120" y="416966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80960" y="3986783"/>
            <a:ext cx="82296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80960" y="416966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−0.00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03920" y="3986783"/>
            <a:ext cx="1005840" cy="685800"/>
          </a:xfrm>
          <a:prstGeom prst="rect">
            <a:avLst/>
          </a:prstGeom>
          <a:solidFill>
            <a:srgbClr val="EE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03920" y="416966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182334"/>
                </a:solidFill>
                <a:latin typeface="Aptos"/>
              </a:defRPr>
            </a:pPr>
            <a:r>
              <a:t>−1.36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5166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5BA5"/>
                </a:solidFill>
                <a:latin typeface="Aptos"/>
              </a:defRPr>
            </a:pPr>
            <a:r>
              <a:t>The key distribution signal is final_price: its mean is well above its median, with skewness 0.93.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4 | Categorical Distribution — Customer &amp; Gender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checks customer segment, gender, payment, shipping and return-status composition.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4688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1234440"/>
          </a:xfrm>
          <a:prstGeom prst="rect">
            <a:avLst/>
          </a:prstGeom>
          <a:solidFill>
            <a:srgbClr val="20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36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NEW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33,488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33.5%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4688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73152" cy="1234440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36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REGULAR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33,361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31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33.4%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371600"/>
            <a:ext cx="24688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371600"/>
            <a:ext cx="73152" cy="123444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536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33,151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331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33.2%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371600"/>
            <a:ext cx="24688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371600"/>
            <a:ext cx="73152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536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CREDIT 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8288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25,307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331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largest payment 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06324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Payment: Credit Card 25,307; UPI 25,139; COD 24,994; Debit Card 24,560.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Customer segment is nearly evenly split across New, Regular and Premium.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The notebook also plots gender and shipping type distributions as part of categorical univariate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BA5"/>
                </a:solidFill>
                <a:latin typeface="Aptos"/>
              </a:defRPr>
            </a:pPr>
            <a:r>
              <a:t>CATEGORICAL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204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Gender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Customer segment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Product category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Payment method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Return status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Shipping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5 | Product Category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prints category counts and visualizes the transaction mix.</a:t>
            </a:r>
          </a:p>
        </p:txBody>
      </p:sp>
      <p:pic>
        <p:nvPicPr>
          <p:cNvPr id="5" name="Picture 4" descr="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0350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BA5"/>
                </a:solidFill>
                <a:latin typeface="Aptos"/>
              </a:defRPr>
            </a:pPr>
            <a:r>
              <a:t>PRINTED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2334"/>
                </a:solidFill>
                <a:latin typeface="Aptos"/>
              </a:defRPr>
            </a:pPr>
            <a:r>
              <a:t>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8288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82334"/>
                </a:solidFill>
                <a:latin typeface="Aptos"/>
              </a:defRPr>
            </a:pPr>
            <a:r>
              <a:t>16,858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2677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2334"/>
                </a:solidFill>
                <a:latin typeface="Aptos"/>
              </a:defRPr>
            </a:pPr>
            <a:r>
              <a:t>Home &amp; Kitchen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267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82334"/>
                </a:solidFill>
                <a:latin typeface="Aptos"/>
              </a:defRPr>
            </a:pPr>
            <a:r>
              <a:t>16,848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066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2334"/>
                </a:solidFill>
                <a:latin typeface="Aptos"/>
              </a:defRPr>
            </a:pPr>
            <a:r>
              <a:t>Fashion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7066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82334"/>
                </a:solidFill>
                <a:latin typeface="Aptos"/>
              </a:defRPr>
            </a:pPr>
            <a:r>
              <a:t>16,613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4553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2334"/>
                </a:solidFill>
                <a:latin typeface="Aptos"/>
              </a:defRPr>
            </a:pPr>
            <a:r>
              <a:t>Grocery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145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82334"/>
                </a:solidFill>
                <a:latin typeface="Aptos"/>
              </a:defRPr>
            </a:pPr>
            <a:r>
              <a:t>16,592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5844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2334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844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82334"/>
                </a:solidFill>
                <a:latin typeface="Aptos"/>
              </a:defRPr>
            </a:pPr>
            <a:r>
              <a:t>16,576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0233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2334"/>
                </a:solidFill>
                <a:latin typeface="Aptos"/>
              </a:defRPr>
            </a:pPr>
            <a:r>
              <a:t>Beauty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023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82334"/>
                </a:solidFill>
                <a:latin typeface="Aptos"/>
              </a:defRPr>
            </a:pPr>
            <a:r>
              <a:t>16,513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7091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3E4C"/>
                </a:solidFill>
                <a:latin typeface="Aptos"/>
              </a:defRPr>
            </a:pPr>
            <a:r>
              <a:t>Important source note:</a:t>
            </a:r>
            <a:br/>
            <a:r>
              <a:t>The notebook's chart title/print label says “Electronics highest,” but the printed counts show Health (16,858) is highest.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6 | Returns — The Core Customer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quantifies both counts and percentages.</a:t>
            </a:r>
          </a:p>
        </p:txBody>
      </p:sp>
      <p:pic>
        <p:nvPicPr>
          <p:cNvPr id="5" name="Picture 4" descr="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420624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57800" y="1417320"/>
            <a:ext cx="24688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57800" y="1417320"/>
            <a:ext cx="73152" cy="1280160"/>
          </a:xfrm>
          <a:prstGeom prst="rect">
            <a:avLst/>
          </a:prstGeom>
          <a:solidFill>
            <a:srgbClr val="D2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0680" y="15819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RETURNED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874519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14,811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3774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14.811%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17320"/>
            <a:ext cx="24688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417320"/>
            <a:ext cx="73152" cy="128016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5819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NOT RETURNED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1874519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85,189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3774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85.189%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246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BA5"/>
                </a:solidFill>
                <a:latin typeface="Aptos"/>
              </a:defRPr>
            </a:pPr>
            <a:r>
              <a:t>WHAT THE NOTEBOOK DOES WITH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6118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Compares product category against return rate.</a:t>
            </a:r>
          </a:p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Compares delivery days against return status.</a:t>
            </a:r>
          </a:p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Tests shipping type alongside delivery behavior.</a:t>
            </a:r>
          </a:p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Uses return status again in multivariate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7 | Univariate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Histograms + KDE are generated for all numerical variables; countplots cover six categorical variables.</a:t>
            </a:r>
          </a:p>
        </p:txBody>
      </p:sp>
      <p:pic>
        <p:nvPicPr>
          <p:cNvPr id="5" name="Picture 4" descr="numeric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715000" cy="3474720"/>
          </a:xfrm>
          <a:prstGeom prst="rect">
            <a:avLst/>
          </a:prstGeom>
        </p:spPr>
      </p:pic>
      <p:pic>
        <p:nvPicPr>
          <p:cNvPr id="6" name="Picture 5" descr="categorical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34440"/>
            <a:ext cx="507492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0749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2334"/>
                </a:solidFill>
                <a:latin typeface="Aptos"/>
              </a:defRPr>
            </a:pPr>
            <a:r>
              <a:t>Numerical plots annotate skewness; final_price shows the strongest positive skew.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5486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2334"/>
                </a:solidFill>
                <a:latin typeface="Aptos"/>
              </a:defRPr>
            </a:pPr>
            <a:r>
              <a:t>Categorical plots cover gender, segment, category, payment, returns and shipping.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8 | Outlier Detection — Two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uses both IQR and Z-score methods and interprets high-value observations as potentially valid.</a:t>
            </a:r>
          </a:p>
        </p:txBody>
      </p:sp>
      <p:pic>
        <p:nvPicPr>
          <p:cNvPr id="5" name="Picture 4" descr="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21792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371600"/>
            <a:ext cx="19202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371600"/>
            <a:ext cx="73152" cy="132588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53619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IQR OUTLIERS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1,335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331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1.33%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371600"/>
            <a:ext cx="19202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64040" y="1371600"/>
            <a:ext cx="73152" cy="1325880"/>
          </a:xfrm>
          <a:prstGeom prst="rect">
            <a:avLst/>
          </a:prstGeom>
          <a:solidFill>
            <a:srgbClr val="D2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19" y="153619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Z-SCORE &gt;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19" y="182880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503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19" y="2331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extreme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15468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High quantity + Premium category can explain high final prices.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Notebook explicitly says these should not be removed immediately.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Example records above ₹20,000 include legitimate high-value orders.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9 | Pearson Correlation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full matrix shows how numerical variables relate to final_price and to each other.</a:t>
            </a:r>
          </a:p>
        </p:txBody>
      </p:sp>
      <p:pic>
        <p:nvPicPr>
          <p:cNvPr id="5" name="Picture 4" descr="correlati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6692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554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82334"/>
                </a:solidFill>
                <a:latin typeface="Aptos"/>
              </a:defRPr>
            </a:pPr>
            <a:r>
              <a:t>Product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554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205BA5"/>
                </a:solidFill>
                <a:latin typeface="Aptos"/>
              </a:defRPr>
            </a:pPr>
            <a:r>
              <a:t>0.730757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128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82334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212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24B1CC"/>
                </a:solidFill>
                <a:latin typeface="Aptos"/>
              </a:defRPr>
            </a:pPr>
            <a:r>
              <a:t>0.575303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7121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82334"/>
                </a:solidFill>
                <a:latin typeface="Aptos"/>
              </a:defRPr>
            </a:pPr>
            <a:r>
              <a:t>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871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DD8452"/>
                </a:solidFill>
                <a:latin typeface="Aptos"/>
              </a:defRPr>
            </a:pPr>
            <a:r>
              <a:t>−0.137332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95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82334"/>
                </a:solidFill>
                <a:latin typeface="Aptos"/>
              </a:defRPr>
            </a:pPr>
            <a:r>
              <a:t>Delivery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5295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228B5E"/>
                </a:solidFill>
                <a:latin typeface="Aptos"/>
              </a:defRPr>
            </a:pPr>
            <a:r>
              <a:t>0.003789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87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82334"/>
                </a:solidFill>
                <a:latin typeface="Aptos"/>
              </a:defRPr>
            </a:pPr>
            <a:r>
              <a:t>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187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697A8E"/>
                </a:solidFill>
                <a:latin typeface="Aptos"/>
              </a:defRPr>
            </a:pPr>
            <a:r>
              <a:t>−0.000823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983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2334"/>
                </a:solidFill>
                <a:latin typeface="Aptos"/>
              </a:defRPr>
            </a:pPr>
            <a:r>
              <a:t>Notebook interpretation:</a:t>
            </a:r>
            <a:br/>
            <a:r>
              <a:t>product_price and quantity are the strongest positive relationships with final_price.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10 | Numerical vs Categorical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Average spending, category return rates and shipping performance are compared directly.</a:t>
            </a:r>
          </a:p>
        </p:txBody>
      </p:sp>
      <p:pic>
        <p:nvPicPr>
          <p:cNvPr id="5" name="Picture 4" descr="segment_sp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3657600" cy="3200400"/>
          </a:xfrm>
          <a:prstGeom prst="rect">
            <a:avLst/>
          </a:prstGeom>
        </p:spPr>
      </p:pic>
      <p:pic>
        <p:nvPicPr>
          <p:cNvPr id="6" name="Picture 5" descr="category_retu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25880"/>
            <a:ext cx="3657600" cy="3200400"/>
          </a:xfrm>
          <a:prstGeom prst="rect">
            <a:avLst/>
          </a:prstGeom>
        </p:spPr>
      </p:pic>
      <p:pic>
        <p:nvPicPr>
          <p:cNvPr id="7" name="Picture 6" descr="shipping_deliv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325880"/>
            <a:ext cx="347472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800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334"/>
                </a:solidFill>
                <a:latin typeface="Aptos"/>
              </a:defRPr>
            </a:pPr>
            <a:r>
              <a:t>Customer segment</a:t>
            </a:r>
            <a:br/>
            <a:r>
              <a:t>Premium is described as higher average spending.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006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334"/>
                </a:solidFill>
                <a:latin typeface="Aptos"/>
              </a:defRPr>
            </a:pPr>
            <a:r>
              <a:t>Category vs returns</a:t>
            </a:r>
            <a:br/>
            <a:r>
              <a:t>Fashion is described as slightly higher.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4800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334"/>
                </a:solidFill>
                <a:latin typeface="Aptos"/>
              </a:defRPr>
            </a:pPr>
            <a:r>
              <a:t>Shipping</a:t>
            </a:r>
            <a:br/>
            <a:r>
              <a:t>Express mean 5.497 days; Standard 5.514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11 | Shipping &amp; Delivery — Exact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reports mean, median, minimum and maximum delivery days by shipping 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92024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92024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53619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417320"/>
            <a:ext cx="192024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53619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Median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417320"/>
            <a:ext cx="192024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53619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417320"/>
            <a:ext cx="192024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53619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1874519"/>
            <a:ext cx="19202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334"/>
                </a:solidFill>
                <a:latin typeface="Aptos"/>
              </a:defRPr>
            </a:pPr>
            <a:r>
              <a:t>Express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1874519"/>
            <a:ext cx="19202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82334"/>
                </a:solidFill>
                <a:latin typeface="Aptos"/>
              </a:defRPr>
            </a:pPr>
            <a:r>
              <a:t>5.4974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874519"/>
            <a:ext cx="19202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8233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1874519"/>
            <a:ext cx="19202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823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74519"/>
            <a:ext cx="19202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8233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514600"/>
            <a:ext cx="19202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697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334"/>
                </a:solidFill>
                <a:latin typeface="Aptos"/>
              </a:defRPr>
            </a:pPr>
            <a:r>
              <a:t>Standard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514600"/>
            <a:ext cx="19202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2697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82334"/>
                </a:solidFill>
                <a:latin typeface="Aptos"/>
              </a:defRPr>
            </a:pPr>
            <a:r>
              <a:t>5.5137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2514600"/>
            <a:ext cx="19202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697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8233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514600"/>
            <a:ext cx="19202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2697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823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2514600"/>
            <a:ext cx="1920240" cy="621792"/>
          </a:xfrm>
          <a:prstGeom prst="rect">
            <a:avLst/>
          </a:prstGeom>
          <a:solidFill>
            <a:srgbClr val="F5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2697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8233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2461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2334"/>
                </a:solidFill>
                <a:latin typeface="Aptos"/>
              </a:defRPr>
            </a:pPr>
            <a:r>
              <a:t>The notebook’s chart title states that Express shipping reduced delivery days significantly, while the printed means differ only slightly.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160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BA5"/>
                </a:solidFill>
                <a:latin typeface="Aptos"/>
              </a:defRPr>
            </a:pPr>
            <a:r>
              <a:t>RETURN STATUS × DELIVERY DAYS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572000"/>
            <a:ext cx="33832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572000"/>
            <a:ext cx="73152" cy="109728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73659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NO RETURN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02920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5.5049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5321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mean delivery 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4572000"/>
            <a:ext cx="33832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4572000"/>
            <a:ext cx="73152" cy="1097280"/>
          </a:xfrm>
          <a:prstGeom prst="rect">
            <a:avLst/>
          </a:prstGeom>
          <a:solidFill>
            <a:srgbClr val="D2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473659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RETURNED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502920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5.5091 days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5321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mean delivery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66344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2334"/>
                </a:solidFill>
                <a:latin typeface="Aptos"/>
              </a:defRPr>
            </a:pPr>
            <a:r>
              <a:t>Difference is very small:</a:t>
            </a:r>
            <a:br/>
            <a:r>
              <a:t>≈ 0.0042 day.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12 | Multivariate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combines three dimensions to inspect interactions.</a:t>
            </a:r>
          </a:p>
        </p:txBody>
      </p:sp>
      <p:pic>
        <p:nvPicPr>
          <p:cNvPr id="5" name="Picture 4" descr="multivariat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703320" cy="2743200"/>
          </a:xfrm>
          <a:prstGeom prst="rect">
            <a:avLst/>
          </a:prstGeom>
        </p:spPr>
      </p:pic>
      <p:pic>
        <p:nvPicPr>
          <p:cNvPr id="6" name="Picture 5" descr="multivariat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80160"/>
            <a:ext cx="3703320" cy="2743200"/>
          </a:xfrm>
          <a:prstGeom prst="rect">
            <a:avLst/>
          </a:prstGeom>
        </p:spPr>
      </p:pic>
      <p:pic>
        <p:nvPicPr>
          <p:cNvPr id="7" name="Picture 6" descr="multivariat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280160"/>
            <a:ext cx="37033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297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05BA5"/>
                </a:solidFill>
                <a:latin typeface="Aptos"/>
              </a:defRPr>
            </a:pPr>
            <a:r>
              <a:t>Category × Discount × Final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297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05BA5"/>
                </a:solidFill>
                <a:latin typeface="Aptos"/>
              </a:defRPr>
            </a:pPr>
            <a:r>
              <a:t>Segment × Age × Spending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297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05BA5"/>
                </a:solidFill>
                <a:latin typeface="Aptos"/>
              </a:defRPr>
            </a:pPr>
            <a:r>
              <a:t>Delivery × Shipping × Returns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2334"/>
                </a:solidFill>
                <a:latin typeface="Aptos"/>
              </a:defRPr>
            </a:pPr>
            <a:r>
              <a:t>• Notebook labels: Electronics + moderate discounts = highest revenue; Premium 30–45 = highest spending; Standard + long delivery = more returns.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13 | Skewness &amp; Kurtosis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explicitly measures distribution shape, not just averages.</a:t>
            </a:r>
          </a:p>
        </p:txBody>
      </p:sp>
      <p:pic>
        <p:nvPicPr>
          <p:cNvPr id="5" name="Picture 4" descr="skew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66928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1417320"/>
            <a:ext cx="21031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1417320"/>
            <a:ext cx="73152" cy="1234440"/>
          </a:xfrm>
          <a:prstGeom prst="rect">
            <a:avLst/>
          </a:prstGeom>
          <a:solidFill>
            <a:srgbClr val="D2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581912"/>
            <a:ext cx="1828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FINAL PRICE SKEW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874519"/>
            <a:ext cx="18287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0.93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377440"/>
            <a:ext cx="18287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right-skewed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417320"/>
            <a:ext cx="21031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52560" y="1417320"/>
            <a:ext cx="73152" cy="1234440"/>
          </a:xfrm>
          <a:prstGeom prst="rect">
            <a:avLst/>
          </a:prstGeom>
          <a:solidFill>
            <a:srgbClr val="20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581912"/>
            <a:ext cx="1828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FINAL PRICE KURTOSIS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874519"/>
            <a:ext cx="18287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0.17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77440"/>
            <a:ext cx="18287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near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24612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Product price: skew 0.00, kurtosis −1.20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Quantity: skew −0.00, kurtosis −1.36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Discount: skew −0.00, kurtosis −1.20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25780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2334"/>
                </a:solidFill>
                <a:latin typeface="Aptos"/>
              </a:defRPr>
            </a:pPr>
            <a:r>
              <a:t>The final-price distribution is the clearest departure from symmetry.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14 | Key Statistical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notebook adds several findings beyond the basic EDA charts.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375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325880"/>
          </a:xfrm>
          <a:prstGeom prst="rect">
            <a:avLst/>
          </a:prstGeom>
          <a:solidFill>
            <a:srgbClr val="20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TOP 10% REVENUE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26.4%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highest-value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375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73152" cy="132588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9047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PREMIUM PURCHASES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8308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&gt;95th percentile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25880"/>
            <a:ext cx="33375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25880"/>
            <a:ext cx="73152" cy="132588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9047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97A8E"/>
                </a:solidFill>
                <a:latin typeface="Aptos"/>
              </a:defRPr>
            </a:pPr>
            <a:r>
              <a:t>MEAN VS MEDIAN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8308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334"/>
                </a:solidFill>
                <a:latin typeface="Aptos"/>
              </a:defRPr>
            </a:pPr>
            <a:r>
              <a:t>64,165.72 &gt; 49,752.39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97A8E"/>
                </a:solidFill>
                <a:latin typeface="Aptos"/>
              </a:defRPr>
            </a:pPr>
            <a:r>
              <a:t>evidence of right skew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54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BA5"/>
                </a:solidFill>
                <a:latin typeface="Aptos"/>
              </a:defRPr>
            </a:pPr>
            <a:r>
              <a:t>DISCOUNT-BAND SPENDING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204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0–10%: ₹71,910.36 average final price</a:t>
            </a:r>
          </a:p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10–20%: ₹63,853.35</a:t>
            </a:r>
          </a:p>
          <a:p>
            <a:pPr>
              <a:spcAft>
                <a:spcPts val="700"/>
              </a:spcAft>
              <a:defRPr sz="1500">
                <a:solidFill>
                  <a:srgbClr val="182334"/>
                </a:solidFill>
                <a:latin typeface="Aptos"/>
              </a:defRPr>
            </a:pPr>
            <a:r>
              <a:t>• 20–30%: ₹55,980.75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154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BA5"/>
                </a:solidFill>
                <a:latin typeface="Aptos"/>
              </a:defRPr>
            </a:pPr>
            <a:r>
              <a:t>RETURN / DELIVERY FINDING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520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No-return mean delivery: 5.5049 days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Returned mean delivery: 5.5091 days</a:t>
            </a:r>
          </a:p>
          <a:p>
            <a:pPr>
              <a:spcAft>
                <a:spcPts val="700"/>
              </a:spcAft>
              <a:defRPr sz="1400">
                <a:solidFill>
                  <a:srgbClr val="182334"/>
                </a:solidFill>
                <a:latin typeface="Aptos"/>
              </a:defRPr>
            </a:pPr>
            <a:r>
              <a:t>• Notebook describes the difference as a slight increase with longer delivery.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4406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97A8E"/>
                </a:solidFill>
                <a:latin typeface="Aptos"/>
              </a:defRPr>
            </a:pPr>
            <a:r>
              <a:t>Important: these are findings reported/generated by the notebook; correlation and descriptive patterns do not by themselves establish causation.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334"/>
                </a:solidFill>
                <a:latin typeface="Aptos"/>
              </a:defRPr>
            </a:pPr>
            <a:r>
              <a:t>15 | What the Project Successfully Applies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97A8E"/>
                </a:solidFill>
                <a:latin typeface="Aptos"/>
              </a:defRPr>
            </a:pPr>
            <a:r>
              <a:t>The conclusion section of the notebook explicitly lists the analytical methods used.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20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5BA5"/>
                </a:solidFill>
                <a:latin typeface="Aptos"/>
              </a:defRPr>
            </a:pPr>
            <a:r>
              <a:t>Univariate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A8E"/>
                </a:solidFill>
                <a:latin typeface="Aptos"/>
              </a:defRPr>
            </a:pPr>
            <a:r>
              <a:t>statistical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1732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24B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1848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4B1CC"/>
                </a:solidFill>
                <a:latin typeface="Aptos"/>
              </a:defRPr>
            </a:pPr>
            <a:r>
              <a:t>Bivariate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A8E"/>
                </a:solidFill>
                <a:latin typeface="Aptos"/>
              </a:defRPr>
            </a:pPr>
            <a:r>
              <a:t>relationship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1848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8B5E"/>
                </a:solidFill>
                <a:latin typeface="Aptos"/>
              </a:defRPr>
            </a:pPr>
            <a:r>
              <a:t>Multivariate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A8E"/>
                </a:solidFill>
                <a:latin typeface="Aptos"/>
              </a:defRPr>
            </a:pPr>
            <a:r>
              <a:t>interaction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D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27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D8452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4787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A8E"/>
                </a:solidFill>
                <a:latin typeface="Aptos"/>
              </a:defRPr>
            </a:pPr>
            <a:r>
              <a:t>study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292608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127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23E4C"/>
                </a:solidFill>
                <a:latin typeface="Aptos"/>
              </a:defRPr>
            </a:pPr>
            <a:r>
              <a:t>Outliers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54787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A8E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92608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20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127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5BA5"/>
                </a:solidFill>
                <a:latin typeface="Aptos"/>
              </a:defRPr>
            </a:pPr>
            <a:r>
              <a:t>Skewness &amp; Kurtosis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4787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A8E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628"/>
                </a:solidFill>
                <a:latin typeface="Aptos"/>
              </a:defRPr>
            </a:pPr>
            <a:r>
              <a:t>Notebook conclusion: the analysis provides a strong foundation for predictive modeling and business decision-making.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97A8E"/>
                </a:solidFill>
                <a:latin typeface="Aptos"/>
              </a:defRPr>
            </a:pPr>
            <a:r>
              <a:t>Core libraries: Pandas • NumPy • Matplotlib • Seaborn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A8E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B1CC"/>
                </a:solidFill>
                <a:latin typeface="Aptos"/>
              </a:defRPr>
            </a:pPr>
            <a:r>
              <a:t>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"/>
              </a:defRPr>
            </a:pPr>
            <a:r>
              <a:t>From raw transactions</a:t>
            </a:r>
            <a:br/>
            <a:r>
              <a:t>to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1752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1D0DF"/>
                </a:solidFill>
                <a:latin typeface="Aptos"/>
              </a:defRPr>
            </a:pPr>
            <a:r>
              <a:t>A structured EDA workflow turns a 100K-row retail dataset into measurable insights about pricing, customers, fulfillment and returns.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572000"/>
            <a:ext cx="1920240" cy="393192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F8FAFC"/>
                </a:solidFill>
                <a:latin typeface="Aptos"/>
              </a:defRPr>
            </a:pPr>
            <a:r>
              <a:t>CLEAN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4572000"/>
            <a:ext cx="1920240" cy="393192"/>
          </a:xfrm>
          <a:prstGeom prst="roundRect">
            <a:avLst/>
          </a:prstGeom>
          <a:solidFill>
            <a:srgbClr val="20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46634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F8FAFC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4572000"/>
            <a:ext cx="1920240" cy="393192"/>
          </a:xfrm>
          <a:prstGeom prst="roundRect">
            <a:avLst/>
          </a:prstGeom>
          <a:solidFill>
            <a:srgbClr val="24B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46634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F8FAFC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12080"/>
            <a:ext cx="1920240" cy="393192"/>
          </a:xfrm>
          <a:prstGeom prst="round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0352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F8FAFC"/>
                </a:solidFill>
                <a:latin typeface="Aptos"/>
              </a:defRPr>
            </a:pPr>
            <a:r>
              <a:t>OUTLIERS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5212080"/>
            <a:ext cx="1920240" cy="393192"/>
          </a:xfrm>
          <a:prstGeom prst="roundRect">
            <a:avLst/>
          </a:prstGeom>
          <a:solidFill>
            <a:srgbClr val="D2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530352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F8FAFC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709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8FA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440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BED2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1A2B4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